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F328CC-BB15-4784-BFA8-01F2C7F367A3}">
  <a:tblStyle styleId="{C4F328CC-BB15-4784-BFA8-01F2C7F367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69b22b591e_0_0:notes"/>
          <p:cNvSpPr txBox="1"/>
          <p:nvPr/>
        </p:nvSpPr>
        <p:spPr>
          <a:xfrm>
            <a:off x="3885453" y="8686373"/>
            <a:ext cx="29709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4700" lIns="89375" spcFirstLastPara="1" rIns="89375" wrap="square" tIns="44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269b22b591e_0_0:notes"/>
          <p:cNvSpPr/>
          <p:nvPr>
            <p:ph idx="2" type="sldImg"/>
          </p:nvPr>
        </p:nvSpPr>
        <p:spPr>
          <a:xfrm>
            <a:off x="130863" y="685057"/>
            <a:ext cx="6596400" cy="343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g269b22b591e_0_0:notes"/>
          <p:cNvSpPr txBox="1"/>
          <p:nvPr>
            <p:ph idx="1" type="body"/>
          </p:nvPr>
        </p:nvSpPr>
        <p:spPr>
          <a:xfrm>
            <a:off x="685480" y="4343918"/>
            <a:ext cx="54870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700" lIns="89375" spcFirstLastPara="1" rIns="89375" wrap="square" tIns="44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69b22b591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69b22b591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69b22b591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69b22b591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Here are some links about this assignment, and these links are on E3 system too.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69b22b591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69b22b591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69b22b591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69b22b591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00d81c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d00d81c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 second part is Adaboost.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 the course, you learned </a:t>
            </a:r>
            <a:r>
              <a:rPr lang="zh-TW">
                <a:solidFill>
                  <a:schemeClr val="dk1"/>
                </a:solidFill>
              </a:rPr>
              <a:t>about </a:t>
            </a:r>
            <a:r>
              <a:rPr lang="zh-TW"/>
              <a:t>AdaBoost, a boosting technique that leverages multiple weak classifiers. It is called Adaptive Boosting as the weights are re-assigned to each instance, with higher weights assigned to incorrectly classified instances.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d00d81c1ab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d00d81c1ab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00d81c1a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d00d81c1a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 first part is about Decision Tree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In the course, you learned about Decision Tree, which is a non-parametric supervised learning algorithm which has a hierarchical, tree structure, which consists of a root node, branches, internal nodes and leaf nodes. At each internal node, a feature is selected, and one of its values is chosen to split the node, aiming to maximize information gain.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69b22b591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69b22b591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69b22b591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69b22b591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d00d81c1ab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d00d81c1ab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00d81c1ab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d00d81c1ab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d00d81c1ab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d00d81c1ab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6bae8247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6bae8247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6bae82475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6bae82475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eee5e13c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eee5e13c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6fafe3b12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6fafe3b12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69b22b591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69b22b591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About the report, please follow the report template format.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69b22b591e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69b22b591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About submission, you have to Compress your code and report into a .zip file and submit it on E3. You should name your files correctly.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69b22b591e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69b22b591e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69b22b591e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69b22b591e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69b22b591e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69b22b591e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69b22b591e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69b22b591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_1">
    <p:bg>
      <p:bgPr>
        <a:gradFill>
          <a:gsLst>
            <a:gs pos="0">
              <a:srgbClr val="9A9ADF"/>
            </a:gs>
            <a:gs pos="31000">
              <a:srgbClr val="9A9ADF"/>
            </a:gs>
            <a:gs pos="100000">
              <a:srgbClr val="212167"/>
            </a:gs>
          </a:gsLst>
          <a:lin ang="10800025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2107787" y="1400997"/>
            <a:ext cx="7036200" cy="240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/>
          <p:nvPr/>
        </p:nvSpPr>
        <p:spPr>
          <a:xfrm rot="10800000">
            <a:off x="395406" y="1400929"/>
            <a:ext cx="3331200" cy="2409000"/>
          </a:xfrm>
          <a:prstGeom prst="flowChartDelay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" name="Google Shape;53;p13"/>
          <p:cNvGrpSpPr/>
          <p:nvPr/>
        </p:nvGrpSpPr>
        <p:grpSpPr>
          <a:xfrm>
            <a:off x="3147004" y="4331494"/>
            <a:ext cx="1556778" cy="657676"/>
            <a:chOff x="-253" y="3137"/>
            <a:chExt cx="1281" cy="722"/>
          </a:xfrm>
        </p:grpSpPr>
        <p:sp>
          <p:nvSpPr>
            <p:cNvPr id="54" name="Google Shape;54;p13"/>
            <p:cNvSpPr/>
            <p:nvPr/>
          </p:nvSpPr>
          <p:spPr>
            <a:xfrm>
              <a:off x="600" y="3137"/>
              <a:ext cx="0" cy="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1028" y="3476"/>
              <a:ext cx="0" cy="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731" y="3627"/>
              <a:ext cx="0" cy="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296" y="3859"/>
              <a:ext cx="0" cy="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-196" y="3265"/>
              <a:ext cx="0" cy="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-60" y="3438"/>
              <a:ext cx="300" cy="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" name="Google Shape;60;p13"/>
            <p:cNvCxnSpPr/>
            <p:nvPr/>
          </p:nvCxnSpPr>
          <p:spPr>
            <a:xfrm rot="10800000">
              <a:off x="420" y="3521"/>
              <a:ext cx="600" cy="0"/>
            </a:xfrm>
            <a:prstGeom prst="straightConnector1">
              <a:avLst/>
            </a:prstGeom>
            <a:noFill/>
            <a:ln cap="flat" cmpd="sng" w="222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" name="Google Shape;61;p13"/>
            <p:cNvCxnSpPr/>
            <p:nvPr/>
          </p:nvCxnSpPr>
          <p:spPr>
            <a:xfrm rot="10800000">
              <a:off x="-253" y="3310"/>
              <a:ext cx="600" cy="0"/>
            </a:xfrm>
            <a:prstGeom prst="straightConnector1">
              <a:avLst/>
            </a:prstGeom>
            <a:noFill/>
            <a:ln cap="flat" cmpd="sng" w="222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347" y="3302"/>
              <a:ext cx="300" cy="300"/>
            </a:xfrm>
            <a:prstGeom prst="straightConnector1">
              <a:avLst/>
            </a:prstGeom>
            <a:noFill/>
            <a:ln cap="flat" cmpd="sng" w="222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13"/>
            <p:cNvCxnSpPr/>
            <p:nvPr/>
          </p:nvCxnSpPr>
          <p:spPr>
            <a:xfrm flipH="1">
              <a:off x="313" y="3249"/>
              <a:ext cx="300" cy="300"/>
            </a:xfrm>
            <a:prstGeom prst="straightConnector1">
              <a:avLst/>
            </a:prstGeom>
            <a:noFill/>
            <a:ln cap="flat" cmpd="sng" w="222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3"/>
            <p:cNvCxnSpPr/>
            <p:nvPr/>
          </p:nvCxnSpPr>
          <p:spPr>
            <a:xfrm>
              <a:off x="0" y="3521"/>
              <a:ext cx="300" cy="0"/>
            </a:xfrm>
            <a:prstGeom prst="straightConnector1">
              <a:avLst/>
            </a:prstGeom>
            <a:noFill/>
            <a:ln cap="flat" cmpd="sng" w="222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3"/>
            <p:cNvCxnSpPr/>
            <p:nvPr/>
          </p:nvCxnSpPr>
          <p:spPr>
            <a:xfrm>
              <a:off x="340" y="3521"/>
              <a:ext cx="0" cy="300"/>
            </a:xfrm>
            <a:prstGeom prst="straightConnector1">
              <a:avLst/>
            </a:prstGeom>
            <a:noFill/>
            <a:ln cap="flat" cmpd="sng" w="222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3"/>
            <p:cNvCxnSpPr/>
            <p:nvPr/>
          </p:nvCxnSpPr>
          <p:spPr>
            <a:xfrm rot="10800000">
              <a:off x="449" y="3686"/>
              <a:ext cx="300" cy="0"/>
            </a:xfrm>
            <a:prstGeom prst="straightConnector1">
              <a:avLst/>
            </a:prstGeom>
            <a:noFill/>
            <a:ln cap="flat" cmpd="sng" w="222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圖片1" id="67" name="Google Shape;67;p13"/>
          <p:cNvPicPr preferRelativeResize="0"/>
          <p:nvPr/>
        </p:nvPicPr>
        <p:blipFill rotWithShape="1">
          <a:blip r:embed="rId2">
            <a:alphaModFix/>
          </a:blip>
          <a:srcRect b="24276" l="0" r="15597" t="8401"/>
          <a:stretch/>
        </p:blipFill>
        <p:spPr>
          <a:xfrm>
            <a:off x="5303838" y="0"/>
            <a:ext cx="2880121" cy="1383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圖片1" id="68" name="Google Shape;68;p13"/>
          <p:cNvPicPr preferRelativeResize="0"/>
          <p:nvPr/>
        </p:nvPicPr>
        <p:blipFill rotWithShape="1">
          <a:blip r:embed="rId3">
            <a:alphaModFix/>
          </a:blip>
          <a:srcRect b="0" l="0" r="21905" t="28891"/>
          <a:stretch/>
        </p:blipFill>
        <p:spPr>
          <a:xfrm>
            <a:off x="6659563" y="3813572"/>
            <a:ext cx="1863326" cy="10227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圖片2" id="69" name="Google Shape;69;p13"/>
          <p:cNvPicPr preferRelativeResize="0"/>
          <p:nvPr/>
        </p:nvPicPr>
        <p:blipFill rotWithShape="1">
          <a:blip r:embed="rId4">
            <a:alphaModFix/>
          </a:blip>
          <a:srcRect b="0" l="14632" r="0" t="0"/>
          <a:stretch/>
        </p:blipFill>
        <p:spPr>
          <a:xfrm>
            <a:off x="0" y="3734991"/>
            <a:ext cx="1382317" cy="9775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圖片2" id="70" name="Google Shape;70;p13"/>
          <p:cNvPicPr preferRelativeResize="0"/>
          <p:nvPr/>
        </p:nvPicPr>
        <p:blipFill rotWithShape="1">
          <a:blip r:embed="rId5">
            <a:alphaModFix/>
          </a:blip>
          <a:srcRect b="21783" l="0" r="0" t="0"/>
          <a:stretch/>
        </p:blipFill>
        <p:spPr>
          <a:xfrm>
            <a:off x="1044575" y="4455319"/>
            <a:ext cx="1457324" cy="688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1709" y="1529023"/>
            <a:ext cx="2178186" cy="217818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/>
            </a:lvl1pPr>
            <a:lvl2pPr lvl="1" rtl="0">
              <a:buNone/>
              <a:defRPr sz="1300"/>
            </a:lvl2pPr>
            <a:lvl3pPr lvl="2" rtl="0">
              <a:buNone/>
              <a:defRPr sz="1300"/>
            </a:lvl3pPr>
            <a:lvl4pPr lvl="3" rtl="0">
              <a:buNone/>
              <a:defRPr sz="1300"/>
            </a:lvl4pPr>
            <a:lvl5pPr lvl="4" rtl="0">
              <a:buNone/>
              <a:defRPr sz="1300"/>
            </a:lvl5pPr>
            <a:lvl6pPr lvl="5" rtl="0">
              <a:buNone/>
              <a:defRPr sz="1300"/>
            </a:lvl6pPr>
            <a:lvl7pPr lvl="6" rtl="0">
              <a:buNone/>
              <a:defRPr sz="1300"/>
            </a:lvl7pPr>
            <a:lvl8pPr lvl="7" rtl="0">
              <a:buNone/>
              <a:defRPr sz="1300"/>
            </a:lvl8pPr>
            <a:lvl9pPr lvl="8" rtl="0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document/d/1tpS7rJo7Y5yQLfliUpsZvUXWGJrBTVDC/edit?usp=sharing&amp;ouid=116501711728929901941&amp;rtpof=true&amp;sd=true" TargetMode="External"/><Relationship Id="rId4" Type="http://schemas.openxmlformats.org/officeDocument/2006/relationships/hyperlink" Target="https://drive.google.com/file/d/1YSBZfU7Fi4QJfx5S0dcQb6Aa2VxV90DI/view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astral-sh/uv" TargetMode="External"/><Relationship Id="rId4" Type="http://schemas.openxmlformats.org/officeDocument/2006/relationships/hyperlink" Target="https://python-poetry.org/" TargetMode="External"/><Relationship Id="rId5" Type="http://schemas.openxmlformats.org/officeDocument/2006/relationships/hyperlink" Target="https://docs.conda.io/en/latest/" TargetMode="External"/><Relationship Id="rId6" Type="http://schemas.openxmlformats.org/officeDocument/2006/relationships/hyperlink" Target="https://virtualenv.pypa.io/en/latest/" TargetMode="External"/><Relationship Id="rId7" Type="http://schemas.openxmlformats.org/officeDocument/2006/relationships/hyperlink" Target="https://virtualenv.pypa.io/en/latest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numpy.org/doc/stable/user/absolute_beginners.html" TargetMode="External"/><Relationship Id="rId4" Type="http://schemas.openxmlformats.org/officeDocument/2006/relationships/hyperlink" Target="https://pytorch.org/tutorials/beginner/basics/quickstart_tutorial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researchgate.net/figure/Illustration-of-AdaBoost-algorithm-for-creating-a-strong-classifier-based-on-multiple_fig9_288699540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hyperlink" Target="https://towardsdatascience.com/ensemble-learning-bagging-boosting-3098079e5422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hyperlink" Target="https://medium.com/@mallrishabh52/decision-tree-fd7405f4fd41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hyperlink" Target="https://peps.python.org/pep-0008/" TargetMode="External"/><Relationship Id="rId5" Type="http://schemas.openxmlformats.org/officeDocument/2006/relationships/hyperlink" Target="https://google.github.io/styleguide/pyguide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document/d/1tpS7rJo7Y5yQLfliUpsZvUXWGJrBTVDC/edit?usp=sharing&amp;ouid=116501711728929901941&amp;rtpof=true&amp;sd=tru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e3p.nycu.edu.tw/mod/forum/view.php?id=149427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/>
          <p:nvPr/>
        </p:nvSpPr>
        <p:spPr>
          <a:xfrm>
            <a:off x="3297150" y="1607650"/>
            <a:ext cx="5652000" cy="14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 Autmun</a:t>
            </a:r>
            <a:endParaRPr b="1" sz="28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Intro-to-Machine Learning</a:t>
            </a:r>
            <a:endParaRPr b="1" sz="28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lang="zh-TW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omework 3</a:t>
            </a:r>
            <a:endParaRPr b="1" i="1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660550" y="3028750"/>
            <a:ext cx="328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Release Date: 2025/11/04 15:30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Homework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311700" y="1152475"/>
            <a:ext cx="8520600" cy="38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Deadline: 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23:59, 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18th (Tue), 202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Coding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(60%): Implement </a:t>
            </a:r>
            <a:r>
              <a:rPr lang="zh-TW" u="sng">
                <a:latin typeface="Times New Roman"/>
                <a:ea typeface="Times New Roman"/>
                <a:cs typeface="Times New Roman"/>
                <a:sym typeface="Times New Roman"/>
              </a:rPr>
              <a:t>ensemble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methods with Numpy and 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PyTorch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Submit your code in executable python files (.py).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Report the outcome and parameters by screenshots to the questions.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Handwritten Questions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(40%): Answer questions about ensemble methods.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Answer the questions in the report.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You </a:t>
            </a:r>
            <a:r>
              <a:rPr b="1" lang="zh-TW" sz="1600" u="sng">
                <a:latin typeface="Times New Roman"/>
                <a:ea typeface="Times New Roman"/>
                <a:cs typeface="Times New Roman"/>
                <a:sym typeface="Times New Roman"/>
              </a:rPr>
              <a:t>must use the template</a:t>
            </a: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 and in </a:t>
            </a:r>
            <a:r>
              <a:rPr b="1" lang="zh-TW" sz="1600" u="sng">
                <a:latin typeface="Times New Roman"/>
                <a:ea typeface="Times New Roman"/>
                <a:cs typeface="Times New Roman"/>
                <a:sym typeface="Times New Roman"/>
              </a:rPr>
              <a:t>digital-typed</a:t>
            </a: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zh-TW" sz="1600">
                <a:latin typeface="Times New Roman"/>
                <a:ea typeface="Times New Roman"/>
                <a:cs typeface="Times New Roman"/>
                <a:sym typeface="Times New Roman"/>
              </a:rPr>
              <a:t>no handwritten scan</a:t>
            </a: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In English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Links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1700" y="1152475"/>
            <a:ext cx="8520600" cy="38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Questions and Report template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Sample code / Dataset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Coding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Environment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311700" y="1152475"/>
            <a:ext cx="8520600" cy="38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Recommnedation: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Python 3.9 or higher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Tips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We recommend you to use 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virtual environments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when implementing your homework assignments.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Here are some popular virtual environment management tools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</a:pPr>
            <a:r>
              <a:rPr lang="zh-TW" u="sng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uv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</a:pPr>
            <a:r>
              <a:rPr lang="zh-TW" u="sng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Poetry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</a:pPr>
            <a:r>
              <a:rPr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Conda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</a:pPr>
            <a:r>
              <a:rPr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V</a:t>
            </a:r>
            <a:r>
              <a:rPr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irtualenv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Numpy &amp; PyTorch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11700" y="1152475"/>
            <a:ext cx="8520600" cy="29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Numpy Tutorial: </a:t>
            </a:r>
            <a:r>
              <a:rPr lang="zh-TW" u="sng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PyTorch Tutorial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Link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Allowed to use any optimizer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u="sng">
                <a:latin typeface="Times New Roman"/>
                <a:ea typeface="Times New Roman"/>
                <a:cs typeface="Times New Roman"/>
                <a:sym typeface="Times New Roman"/>
              </a:rPr>
              <a:t>Not allowed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to used built-in loss function (Please implement it by your self!)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Adaboost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AdaBoost is a boosting technique in machine learning. It is called Adaptive Boosting as the weights are re-assigned to each instance, with higher weights assigned to incorrectly classified instances.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899975" y="4835700"/>
            <a:ext cx="8243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https://www.researchgate.net/figure/Illustration-of-AdaBoost-algorithm-for-creating-a-strong-classifier-based-on-multiple_fig9_288699540</a:t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6025" y="2195200"/>
            <a:ext cx="4872650" cy="258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Bagging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311700" y="1152475"/>
            <a:ext cx="4422000" cy="33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/>
              <a:t>Train multiple classifiers, </a:t>
            </a:r>
            <a:r>
              <a:rPr lang="zh-TW" u="sng"/>
              <a:t>each with a </a:t>
            </a:r>
            <a:r>
              <a:rPr lang="zh-TW" u="sng"/>
              <a:t>proportion</a:t>
            </a:r>
            <a:r>
              <a:rPr lang="zh-TW" u="sng"/>
              <a:t> of data</a:t>
            </a:r>
            <a:r>
              <a:rPr lang="zh-TW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/>
              <a:t>Data is sampled from the whole training set with a sampling with replacement strategy.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/>
              <a:t>Majority votes for the final prediction</a:t>
            </a:r>
            <a:endParaRPr/>
          </a:p>
        </p:txBody>
      </p:sp>
      <p:pic>
        <p:nvPicPr>
          <p:cNvPr id="124" name="Google Shape;124;p20"/>
          <p:cNvPicPr preferRelativeResize="0"/>
          <p:nvPr/>
        </p:nvPicPr>
        <p:blipFill rotWithShape="1">
          <a:blip r:embed="rId3">
            <a:alphaModFix/>
          </a:blip>
          <a:srcRect b="19780" l="0" r="50315" t="20585"/>
          <a:stretch/>
        </p:blipFill>
        <p:spPr>
          <a:xfrm>
            <a:off x="4823950" y="1152475"/>
            <a:ext cx="4169349" cy="281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4823950" y="3834500"/>
            <a:ext cx="20409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2"/>
                </a:solidFill>
              </a:rPr>
              <a:t>image credit: </a:t>
            </a:r>
            <a:r>
              <a:rPr lang="zh-TW" sz="1000" u="sng">
                <a:solidFill>
                  <a:schemeClr val="hlink"/>
                </a:solidFill>
                <a:hlinkClick r:id="rId4"/>
              </a:rPr>
              <a:t>Fernando López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Decision Tree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Decision tree is a non-parametric supervised learning algorithm which has a hierarchical, tree structure, which consists of a root node, branches, internal nodes and leaf nodes.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8174" y="2064500"/>
            <a:ext cx="3464275" cy="266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 txBox="1"/>
          <p:nvPr/>
        </p:nvSpPr>
        <p:spPr>
          <a:xfrm>
            <a:off x="5008175" y="4705375"/>
            <a:ext cx="20409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2"/>
                </a:solidFill>
              </a:rPr>
              <a:t>image credit: </a:t>
            </a:r>
            <a:r>
              <a:rPr lang="zh-TW" sz="1000" u="sng">
                <a:solidFill>
                  <a:schemeClr val="hlink"/>
                </a:solidFill>
                <a:hlinkClick r:id="rId4"/>
              </a:rPr>
              <a:t>Rishabh Mall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Dataset and Environment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152475"/>
            <a:ext cx="85206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Loan Dataset (Binary classification)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Already split into training and testing set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You need to preprocess the dataset by yourself.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Normalization, encoding, etc.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Target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0 = Rejected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1 = Approved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AdaBoost (20%)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311700" y="1152475"/>
            <a:ext cx="8735100" cy="399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Implement the AdaBoost method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b="1" lang="zh-TW" u="sng">
                <a:latin typeface="Times New Roman"/>
                <a:ea typeface="Times New Roman"/>
                <a:cs typeface="Times New Roman"/>
                <a:sym typeface="Times New Roman"/>
              </a:rPr>
              <a:t>weak linear classifiers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No non-linear activation function in intermediate layers (Only allowed for output layer)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Plot the AUC curve for each weak classifier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Plot the feature importance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Grading Criteria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(5%) 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Show your accuracy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of the testing data with 10 estimators. (n_estimators=10)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(5%) 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Plot the AUC curves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each weak classifier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(10%) 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Plot the feature importance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of the AdaBoost method.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Also, </a:t>
            </a:r>
            <a:r>
              <a:rPr b="1" lang="zh-TW" u="sng">
                <a:latin typeface="Times New Roman"/>
                <a:ea typeface="Times New Roman"/>
                <a:cs typeface="Times New Roman"/>
                <a:sym typeface="Times New Roman"/>
              </a:rPr>
              <a:t>paste the snapshot of your implementation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of the feature importance estimation.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</a:pPr>
            <a:r>
              <a:rPr b="1" lang="zh-TW" u="sng">
                <a:latin typeface="Times New Roman"/>
                <a:ea typeface="Times New Roman"/>
                <a:cs typeface="Times New Roman"/>
                <a:sym typeface="Times New Roman"/>
              </a:rPr>
              <a:t>Explain how you compute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the feature importance of the AdaBoost method shortly (&lt; 100 words)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e.g, how to select, what is the key difference with Bagging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78533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49" name="Google Shape;149;p23"/>
          <p:cNvGraphicFramePr/>
          <p:nvPr/>
        </p:nvGraphicFramePr>
        <p:xfrm>
          <a:off x="65737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{C4F328CC-BB15-4784-BFA8-01F2C7F367A3}</a:tableStyleId>
              </a:tblPr>
              <a:tblGrid>
                <a:gridCol w="1214225"/>
                <a:gridCol w="1356075"/>
              </a:tblGrid>
              <a:tr h="34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Accuracy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Score (pt)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&gt;= 0.82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&gt;= 0.78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&gt;= 0.75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&lt; 0.7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Bagging (20%)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311700" y="1152475"/>
            <a:ext cx="8520600" cy="385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Implement the Bagging method with </a:t>
            </a:r>
            <a:r>
              <a:rPr b="1" lang="zh-TW" u="sng">
                <a:latin typeface="Times New Roman"/>
                <a:ea typeface="Times New Roman"/>
                <a:cs typeface="Times New Roman"/>
                <a:sym typeface="Times New Roman"/>
              </a:rPr>
              <a:t>weak linear classifiers.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No non-linear activation function in intermediate layers (Only allowed for output layer)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Plot the AUC curve for each weak classifier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Plot the feature importance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Grading Criteria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(5%) 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Show your accuracy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of the testing data with 10 estimators. (n_estimators=10)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(5%) 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Plot the AUC curves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each weak classifier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(10%) 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Plot the feature importance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of the Bagging method.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Also, </a:t>
            </a:r>
            <a:r>
              <a:rPr b="1" lang="zh-TW" u="sng">
                <a:latin typeface="Times New Roman"/>
                <a:ea typeface="Times New Roman"/>
                <a:cs typeface="Times New Roman"/>
                <a:sym typeface="Times New Roman"/>
              </a:rPr>
              <a:t>paste the snapshot of your implementation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of the feature importance estimation.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</a:pPr>
            <a:r>
              <a:rPr b="1" lang="zh-TW" u="sng">
                <a:latin typeface="Times New Roman"/>
                <a:ea typeface="Times New Roman"/>
                <a:cs typeface="Times New Roman"/>
                <a:sym typeface="Times New Roman"/>
              </a:rPr>
              <a:t>Explain how you compute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the feature importance of the Bagging method shortly (&lt; 100 words)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e.g, how to select, what is the key difference with AdaBoost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4"/>
          <p:cNvSpPr txBox="1"/>
          <p:nvPr>
            <p:ph idx="12" type="sldNum"/>
          </p:nvPr>
        </p:nvSpPr>
        <p:spPr>
          <a:xfrm>
            <a:off x="78533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57" name="Google Shape;157;p24"/>
          <p:cNvGraphicFramePr/>
          <p:nvPr/>
        </p:nvGraphicFramePr>
        <p:xfrm>
          <a:off x="65737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{C4F328CC-BB15-4784-BFA8-01F2C7F367A3}</a:tableStyleId>
              </a:tblPr>
              <a:tblGrid>
                <a:gridCol w="1214225"/>
                <a:gridCol w="1356075"/>
              </a:tblGrid>
              <a:tr h="34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Accuracy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Score (pt)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&gt;= 0.82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&gt;= 0.78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&gt;= 0.75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16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&lt; 0.7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Plot examples</a:t>
            </a:r>
            <a:endParaRPr/>
          </a:p>
        </p:txBody>
      </p:sp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311700" y="1152475"/>
            <a:ext cx="8520600" cy="10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Examples of figures and code </a:t>
            </a:r>
            <a:r>
              <a:rPr lang="zh-TW"/>
              <a:t>snippet. (Only for reference, not the answer)</a:t>
            </a:r>
            <a:endParaRPr/>
          </a:p>
        </p:txBody>
      </p:sp>
      <p:grpSp>
        <p:nvGrpSpPr>
          <p:cNvPr id="164" name="Google Shape;164;p25"/>
          <p:cNvGrpSpPr/>
          <p:nvPr/>
        </p:nvGrpSpPr>
        <p:grpSpPr>
          <a:xfrm>
            <a:off x="2839558" y="2471547"/>
            <a:ext cx="3311401" cy="1295772"/>
            <a:chOff x="3288100" y="3159863"/>
            <a:chExt cx="2900159" cy="1134850"/>
          </a:xfrm>
        </p:grpSpPr>
        <p:pic>
          <p:nvPicPr>
            <p:cNvPr id="165" name="Google Shape;165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88100" y="3159862"/>
              <a:ext cx="2900159" cy="1134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25"/>
            <p:cNvSpPr/>
            <p:nvPr/>
          </p:nvSpPr>
          <p:spPr>
            <a:xfrm>
              <a:off x="3573322" y="3369228"/>
              <a:ext cx="2216400" cy="837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67" name="Google Shape;167;p25"/>
          <p:cNvPicPr preferRelativeResize="0"/>
          <p:nvPr/>
        </p:nvPicPr>
        <p:blipFill rotWithShape="1">
          <a:blip r:embed="rId4">
            <a:alphaModFix/>
          </a:blip>
          <a:srcRect b="0" l="0" r="0" t="11504"/>
          <a:stretch/>
        </p:blipFill>
        <p:spPr>
          <a:xfrm>
            <a:off x="6199375" y="2141825"/>
            <a:ext cx="2944624" cy="2605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/>
          <p:cNvPicPr preferRelativeResize="0"/>
          <p:nvPr/>
        </p:nvPicPr>
        <p:blipFill rotWithShape="1">
          <a:blip r:embed="rId5">
            <a:alphaModFix/>
          </a:blip>
          <a:srcRect b="0" l="0" r="8113" t="0"/>
          <a:stretch/>
        </p:blipFill>
        <p:spPr>
          <a:xfrm>
            <a:off x="0" y="2121200"/>
            <a:ext cx="2751624" cy="199647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 txBox="1"/>
          <p:nvPr/>
        </p:nvSpPr>
        <p:spPr>
          <a:xfrm>
            <a:off x="953325" y="3900804"/>
            <a:ext cx="1089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chemeClr val="dk2"/>
                </a:solidFill>
              </a:rPr>
              <a:t>Importance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295888" y="4747625"/>
            <a:ext cx="27516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Note: You can call sklearn to compute AUC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Decision Tree (15%)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311700" y="1152475"/>
            <a:ext cx="8520600" cy="3867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Implement entropy for measuring the best split of the data.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Implement the decision tree classifier with the argument `max_depth`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Tips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Your model should produce the same results when rebuilt with the same arguments.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Grading Criteria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(5%)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Compute the gini index and the entropy of the array </a:t>
            </a:r>
            <a:r>
              <a:rPr b="1" lang="zh-TW" u="sng">
                <a:latin typeface="Times New Roman"/>
                <a:ea typeface="Times New Roman"/>
                <a:cs typeface="Times New Roman"/>
                <a:sym typeface="Times New Roman"/>
              </a:rPr>
              <a:t>[0, 1, 0, 1, 0, 0, 0, 1, 0, 1, 1]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(5%) Show your accuracy of the testing data </a:t>
            </a:r>
            <a:r>
              <a:rPr b="1" lang="zh-TW" u="sng">
                <a:latin typeface="Times New Roman"/>
                <a:ea typeface="Times New Roman"/>
                <a:cs typeface="Times New Roman"/>
                <a:sym typeface="Times New Roman"/>
              </a:rPr>
              <a:t>with a max-depth = 7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(5%) Plot the feature importance of the decision tree. (No code snapshot for this question)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6"/>
          <p:cNvSpPr txBox="1"/>
          <p:nvPr>
            <p:ph idx="12" type="sldNum"/>
          </p:nvPr>
        </p:nvSpPr>
        <p:spPr>
          <a:xfrm>
            <a:off x="78533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78" name="Google Shape;178;p26"/>
          <p:cNvGraphicFramePr/>
          <p:nvPr/>
        </p:nvGraphicFramePr>
        <p:xfrm>
          <a:off x="65737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{C4F328CC-BB15-4784-BFA8-01F2C7F367A3}</a:tableStyleId>
              </a:tblPr>
              <a:tblGrid>
                <a:gridCol w="1214225"/>
                <a:gridCol w="1356075"/>
              </a:tblGrid>
              <a:tr h="34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Accuracy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Score (pt)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&gt;= 0.90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&gt;= 0.80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&lt; 0.80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Additional Requirements (5%)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311700" y="1152475"/>
            <a:ext cx="8520600" cy="21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Code Check and Verification: 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Lint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the code (5%)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Code linting: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-"/>
            </a:pP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-5pt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per warning / error (any issue will make you get no point)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-"/>
            </a:pPr>
            <a:r>
              <a:rPr b="1" lang="zh-TW" sz="1800" u="sng">
                <a:latin typeface="Times New Roman"/>
                <a:ea typeface="Times New Roman"/>
                <a:cs typeface="Times New Roman"/>
                <a:sym typeface="Times New Roman"/>
              </a:rPr>
              <a:t>Paste the screenshot even there is no output for fully passed linting. (Prove you execute the code linting)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2118850" y="18012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$ flake8 main.py</a:t>
            </a:r>
            <a:endParaRPr sz="1600"/>
          </a:p>
        </p:txBody>
      </p:sp>
      <p:pic>
        <p:nvPicPr>
          <p:cNvPr id="186" name="Google Shape;1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568350"/>
            <a:ext cx="3809700" cy="40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 txBox="1"/>
          <p:nvPr/>
        </p:nvSpPr>
        <p:spPr>
          <a:xfrm>
            <a:off x="5832550" y="0"/>
            <a:ext cx="33114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Python Coding Style Guide Reference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zh-TW" u="sng">
                <a:solidFill>
                  <a:schemeClr val="hlink"/>
                </a:solidFill>
                <a:hlinkClick r:id="rId4"/>
              </a:rPr>
              <a:t>PEP8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zh-TW" u="sng">
                <a:solidFill>
                  <a:schemeClr val="hlink"/>
                </a:solidFill>
                <a:hlinkClick r:id="rId5"/>
              </a:rPr>
              <a:t>Google Python Style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311700" y="3971400"/>
            <a:ext cx="33114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chemeClr val="dk2"/>
                </a:solidFill>
              </a:rPr>
              <a:t>Example that shows warnings.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Handwritten Questions (40%)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>
            <a:off x="311700" y="1152475"/>
            <a:ext cx="8832300" cy="38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u="sng"/>
              <a:t>2-1</a:t>
            </a:r>
            <a:r>
              <a:rPr b="1" lang="zh-TW"/>
              <a:t> (15%)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In the AdaBoost algorithm, each selected weak classifier h_t is assigned a weight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u="sng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(a) What is the definition of </a:t>
            </a:r>
            <a:r>
              <a:rPr lang="zh-TW" sz="1600"/>
              <a:t>ϵ_t</a:t>
            </a:r>
            <a:r>
              <a:rPr lang="zh-TW"/>
              <a:t> in this formula?</a:t>
            </a:r>
            <a:endParaRPr b="1" u="sng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(b) If a weak classifier h_t performs only as well as "random guessing" (i.e., </a:t>
            </a:r>
            <a:r>
              <a:rPr lang="zh-TW" sz="1600"/>
              <a:t>ϵ_t = 0.5 </a:t>
            </a:r>
            <a:r>
              <a:rPr lang="zh-TW"/>
              <a:t>), what will </a:t>
            </a:r>
            <a:r>
              <a:rPr lang="zh-TW" sz="1600"/>
              <a:t>α_t​</a:t>
            </a:r>
            <a:r>
              <a:rPr lang="zh-TW"/>
              <a:t> be?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(c) Based on your answer in (b), briefly explain how this </a:t>
            </a:r>
            <a:r>
              <a:rPr lang="zh-TW" sz="1600"/>
              <a:t>α_t​</a:t>
            </a:r>
            <a:r>
              <a:rPr lang="zh-TW"/>
              <a:t> weight formula ensures the robustness of AdaBoost.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5" name="Google Shape;19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400" y="2128775"/>
            <a:ext cx="1165375" cy="3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Handwritten Questions (40%)</a:t>
            </a:r>
            <a:endParaRPr/>
          </a:p>
        </p:txBody>
      </p:sp>
      <p:sp>
        <p:nvSpPr>
          <p:cNvPr id="201" name="Google Shape;201;p29"/>
          <p:cNvSpPr txBox="1"/>
          <p:nvPr>
            <p:ph idx="1" type="body"/>
          </p:nvPr>
        </p:nvSpPr>
        <p:spPr>
          <a:xfrm>
            <a:off x="311700" y="1152475"/>
            <a:ext cx="8520600" cy="38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u="sng"/>
              <a:t>2-2</a:t>
            </a:r>
            <a:r>
              <a:rPr b="1" lang="zh-TW"/>
              <a:t> (15%)</a:t>
            </a:r>
            <a:r>
              <a:rPr lang="zh-TW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Random Forest is often considered an improvement over Bagging (Bootstrap Aggregating) when used with Decision Trees as the base learners.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(a) Briefly explain the potential problem that can exist among the T classifiers (C_1, ..., C_T) produced by Bagging when using decision trees.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(b) To mitigate the problem from (a), Random Forest introduces a </a:t>
            </a:r>
            <a:r>
              <a:rPr b="1" lang="zh-TW"/>
              <a:t>second source of randomness</a:t>
            </a:r>
            <a:r>
              <a:rPr lang="zh-TW"/>
              <a:t> in addition to Bagging. Specifically describe what this second source of randomness is and how it works.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Handwritten Questions (40%)</a:t>
            </a:r>
            <a:endParaRPr/>
          </a:p>
        </p:txBody>
      </p:sp>
      <p:sp>
        <p:nvSpPr>
          <p:cNvPr id="207" name="Google Shape;207;p30"/>
          <p:cNvSpPr txBox="1"/>
          <p:nvPr>
            <p:ph idx="1" type="body"/>
          </p:nvPr>
        </p:nvSpPr>
        <p:spPr>
          <a:xfrm>
            <a:off x="311700" y="1152475"/>
            <a:ext cx="8520600" cy="38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u="sng"/>
              <a:t>2-3</a:t>
            </a:r>
            <a:r>
              <a:rPr b="1" lang="zh-TW"/>
              <a:t> (10%)</a:t>
            </a:r>
            <a:r>
              <a:rPr lang="zh-TW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Is it always possible to find a smallest decision tree that codes a dataset with no error in polynomial time? If not, what algorithm do we usually use to search a decision tree in reasonable time? Also, list the criterion that we stop splitting the decision tree and leaf nodes are created (List two).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Report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31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Please follow the report template format. (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-5pts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if not use the template)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Link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5" name="Google Shape;215;p31"/>
          <p:cNvSpPr/>
          <p:nvPr/>
        </p:nvSpPr>
        <p:spPr>
          <a:xfrm>
            <a:off x="2342900" y="2285200"/>
            <a:ext cx="2985600" cy="11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1"/>
          <p:cNvSpPr/>
          <p:nvPr/>
        </p:nvSpPr>
        <p:spPr>
          <a:xfrm>
            <a:off x="6160300" y="2285200"/>
            <a:ext cx="1334400" cy="11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1"/>
          <p:cNvSpPr/>
          <p:nvPr/>
        </p:nvSpPr>
        <p:spPr>
          <a:xfrm>
            <a:off x="6189085" y="2546660"/>
            <a:ext cx="1334400" cy="11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Submission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32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Compress your </a:t>
            </a:r>
            <a:r>
              <a:rPr b="1" lang="zh-TW" u="sng">
                <a:latin typeface="Times New Roman"/>
                <a:ea typeface="Times New Roman"/>
                <a:cs typeface="Times New Roman"/>
                <a:sym typeface="Times New Roman"/>
              </a:rPr>
              <a:t>code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zh-TW" u="sng">
                <a:latin typeface="Times New Roman"/>
                <a:ea typeface="Times New Roman"/>
                <a:cs typeface="Times New Roman"/>
                <a:sym typeface="Times New Roman"/>
              </a:rPr>
              <a:t>report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into a 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.zip file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and submit it to E3.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Report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should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be written in English. (-5 pts if not English)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sz="1400">
                <a:latin typeface="Times New Roman"/>
                <a:ea typeface="Times New Roman"/>
                <a:cs typeface="Times New Roman"/>
                <a:sym typeface="Times New Roman"/>
              </a:rPr>
              <a:t>&lt;STUDENT ID&gt;_HW3.zip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main.py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src/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setup.cfg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&lt;STUDENT ID&gt;_HW3.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pdf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 .doc, .docx or others format)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Char char="●"/>
            </a:pP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Don’t put the data (e.g. train.csv / test.csv) into submission file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format / submission issue: -5 pts (cumulative)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Other rules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0" y="1152475"/>
            <a:ext cx="91440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zh-TW" u="sng">
                <a:latin typeface="Times New Roman"/>
                <a:ea typeface="Times New Roman"/>
                <a:cs typeface="Times New Roman"/>
                <a:sym typeface="Times New Roman"/>
              </a:rPr>
              <a:t>Late Policy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: A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penalty of </a:t>
            </a:r>
            <a:r>
              <a:rPr b="1"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points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u="sng">
                <a:latin typeface="Times New Roman"/>
                <a:ea typeface="Times New Roman"/>
                <a:cs typeface="Times New Roman"/>
                <a:sym typeface="Times New Roman"/>
              </a:rPr>
              <a:t>per additional late day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. (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-20pt / delayed.day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For example, If you get 90 points but delay for two days, your will get only 50 points! 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zh-TW" u="sng">
                <a:latin typeface="Times New Roman"/>
                <a:ea typeface="Times New Roman"/>
                <a:cs typeface="Times New Roman"/>
                <a:sym typeface="Times New Roman"/>
              </a:rPr>
              <a:t>No Plagiarism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: You should complete the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by yourself. Students engaged in plagiarism will be penalized heavily. Super serious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penalty.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-100pt for the assignment or failed this course, etc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Times New Roman"/>
              <a:buChar char="○"/>
            </a:pP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to academic integrity office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AI-Assistant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34"/>
          <p:cNvSpPr txBox="1"/>
          <p:nvPr>
            <p:ph idx="1" type="body"/>
          </p:nvPr>
        </p:nvSpPr>
        <p:spPr>
          <a:xfrm>
            <a:off x="311700" y="1152475"/>
            <a:ext cx="8520600" cy="26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Not recommended but no forbidden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zh-TW">
                <a:solidFill>
                  <a:srgbClr val="FF0000"/>
                </a:solidFill>
              </a:rPr>
              <a:t>Copy-and-Paste answers from the AI-Assiant will be seen as Plagiarism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However, you can have your own answer first then rephrase it by AI-Assiant.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Some questions might be parts of final exam, make sure you understand the concept</a:t>
            </a:r>
            <a:endParaRPr/>
          </a:p>
        </p:txBody>
      </p:sp>
      <p:sp>
        <p:nvSpPr>
          <p:cNvPr id="238" name="Google Shape;23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39" name="Google Shape;23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4676" y="3249850"/>
            <a:ext cx="1977774" cy="180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FAQs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35"/>
          <p:cNvSpPr txBox="1"/>
          <p:nvPr>
            <p:ph idx="1" type="body"/>
          </p:nvPr>
        </p:nvSpPr>
        <p:spPr>
          <a:xfrm>
            <a:off x="311700" y="1152475"/>
            <a:ext cx="8709300" cy="37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If you have other questions, ask on </a:t>
            </a:r>
            <a:r>
              <a:rPr b="1"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E3 forum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first! We will reply as soon as possible.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Also, feel free to write email to TAs (And remember to cc all TAs).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Have Fun!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53" name="Google Shape;25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825" y="1489300"/>
            <a:ext cx="5455949" cy="28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